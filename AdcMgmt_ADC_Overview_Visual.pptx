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ADC: what, why &amp; how (quick)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Fun, visual, and ready for engineers — focused on ADC concepts &amp; ServiceNow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is an ADC?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37744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🌐</a:t>
            </a:r>
          </a:p>
          <a:p>
            <a:pPr algn="ctr">
              <a:defRPr sz="2000"/>
            </a:pPr>
            <a:r>
              <a:t>Load Balancer (VIPs)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97280"/>
            <a:ext cx="237744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⚖️</a:t>
            </a:r>
          </a:p>
          <a:p>
            <a:pPr algn="ctr">
              <a:defRPr sz="2000"/>
            </a:pPr>
            <a:r>
              <a:t>Traffic Manager (Pools)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37744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🔒</a:t>
            </a:r>
          </a:p>
          <a:p>
            <a:pPr algn="ctr">
              <a:defRPr sz="2000"/>
            </a:pPr>
            <a:r>
              <a:t>Security (TLS &amp; WAF)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Core ADC Concepts — one-liners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🔹 VIP (Virtual IP): where clients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🔹 Pool: group of backends serving a VIP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🔹 Pool Member: backend server/container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🔹 Health Check: keeps traffic away from unhealthy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ADC lifecycle — short 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E6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Design</a:t>
            </a:r>
          </a:p>
        </p:txBody>
      </p:sp>
      <p:sp>
        <p:nvSpPr>
          <p:cNvPr id="4" name="Oval 3"/>
          <p:cNvSpPr/>
          <p:nvPr/>
        </p:nvSpPr>
        <p:spPr>
          <a:xfrm>
            <a:off x="1874519" y="1097280"/>
            <a:ext cx="1097280" cy="1097280"/>
          </a:xfrm>
          <a:prstGeom prst="ellipse">
            <a:avLst/>
          </a:prstGeom>
          <a:solidFill>
            <a:srgbClr val="FFF0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Provision</a:t>
            </a:r>
          </a:p>
        </p:txBody>
      </p:sp>
      <p:sp>
        <p:nvSpPr>
          <p:cNvPr id="5" name="Oval 4"/>
          <p:cNvSpPr/>
          <p:nvPr/>
        </p:nvSpPr>
        <p:spPr>
          <a:xfrm>
            <a:off x="3291840" y="1097280"/>
            <a:ext cx="1097280" cy="1097280"/>
          </a:xfrm>
          <a:prstGeom prst="ellipse">
            <a:avLst/>
          </a:prstGeom>
          <a:solidFill>
            <a:srgbClr val="E6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Monitor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1097280"/>
            <a:ext cx="1097280" cy="1097280"/>
          </a:xfrm>
          <a:prstGeom prst="ellipse">
            <a:avLst/>
          </a:prstGeom>
          <a:solidFill>
            <a:srgbClr val="FFF0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Route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1097280"/>
            <a:ext cx="1097280" cy="1097280"/>
          </a:xfrm>
          <a:prstGeom prst="ellipse">
            <a:avLst/>
          </a:prstGeom>
          <a:solidFill>
            <a:srgbClr val="E6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Commit</a:t>
            </a:r>
          </a:p>
        </p:txBody>
      </p:sp>
      <p:sp>
        <p:nvSpPr>
          <p:cNvPr id="8" name="Oval 7"/>
          <p:cNvSpPr/>
          <p:nvPr/>
        </p:nvSpPr>
        <p:spPr>
          <a:xfrm>
            <a:off x="7543800" y="1097280"/>
            <a:ext cx="1097280" cy="1097280"/>
          </a:xfrm>
          <a:prstGeom prst="ellipse">
            <a:avLst/>
          </a:prstGeom>
          <a:solidFill>
            <a:srgbClr val="FFF0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Deprovision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ServiceNow implements ADC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🔧 AdcMgt = source-of-truth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59" y="10058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🔧 Declarative adcconfig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🔧 Wizards &amp;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59" y="246888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🔧 Deploy Hosts &amp; Pools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Adcmon — quick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monitor ADC instances and manage BGP route advertisement — keeps traffic off unhealthy containers (RHI-like)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 will run a dedicated Adcmon deep-dive later — this session focuses on ADC concepts &amp; AdcMgt.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Who does what? (access)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👤 Read-Only (view)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59" y="100584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👤 Operations (manage configs)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👤 Infra Admin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59" y="228600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👤 Adcmon Admin (monitor)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Troubleshooting — 3 quick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1) Health: is the member healthy? → health endpoint/AdcMgt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2) Monitoring: does Adcmon see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3) Routing: are BGP routes correct?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here — key docs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🔗 /git/cns_doc/content/NSD/2_ADC_Landing_Page/ADCv3/_index.md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🔗 /git/cns_doc/content/NSD/2_ADC_Landing_Page/AdcMgt_Datacenter/_index.md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🔗 /git/cns_doc/content/NSD/2_ADC_Landing_Page/AdcMgt_Datacenter/AdcMgt_Adcmon/_index.md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🔗 PAGA: datacenter.service-now.com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Try it: request PAGA access (Read-Only) → explore AdcMgt UI → run the "Faking It"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